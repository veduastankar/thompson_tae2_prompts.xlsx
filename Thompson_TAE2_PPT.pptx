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753600" cy="7315200"/>
  <p:notesSz cx="6858000" cy="9144000"/>
  <p:embeddedFontLst>
    <p:embeddedFont>
      <p:font typeface="Times New Roman Bold" charset="1" panose="02020803070505020304"/>
      <p:regular r:id="rId21"/>
    </p:embeddedFont>
    <p:embeddedFont>
      <p:font typeface="Times New Roman" charset="1" panose="02020603050405020304"/>
      <p:regular r:id="rId22"/>
    </p:embeddedFont>
    <p:embeddedFont>
      <p:font typeface="Arial Bold" charset="1" panose="020B0704020202020204"/>
      <p:regular r:id="rId23"/>
    </p:embeddedFont>
    <p:embeddedFont>
      <p:font typeface="Arial" charset="1" panose="020B0604020202020204"/>
      <p:regular r:id="rId25"/>
    </p:embeddedFont>
    <p:embeddedFont>
      <p:font typeface="Cambria" charset="1" panose="02040503050406030204"/>
      <p:regular r:id="rId28"/>
    </p:embeddedFont>
    <p:embeddedFont>
      <p:font typeface="Arimo Bold" charset="1" panose="020B0704020202020204"/>
      <p:regular r:id="rId29"/>
    </p:embeddedFont>
    <p:embeddedFont>
      <p:font typeface="Arimo" charset="1" panose="020B0604020202020204"/>
      <p:regular r:id="rId30"/>
    </p:embeddedFont>
    <p:embeddedFont>
      <p:font typeface="Arial Italics" charset="1" panose="020B060402020209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791" y="6816681"/>
            <a:ext cx="9421711" cy="330537"/>
            <a:chOff x="0" y="0"/>
            <a:chExt cx="12562281" cy="440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62332" cy="440690"/>
            </a:xfrm>
            <a:custGeom>
              <a:avLst/>
              <a:gdLst/>
              <a:ahLst/>
              <a:cxnLst/>
              <a:rect r="r" b="b" t="t" l="l"/>
              <a:pathLst>
                <a:path h="440690" w="12562332">
                  <a:moveTo>
                    <a:pt x="12562332" y="0"/>
                  </a:moveTo>
                  <a:lnTo>
                    <a:pt x="0" y="0"/>
                  </a:lnTo>
                  <a:lnTo>
                    <a:pt x="0" y="440690"/>
                  </a:lnTo>
                  <a:lnTo>
                    <a:pt x="12562332" y="440690"/>
                  </a:lnTo>
                  <a:close/>
                </a:path>
              </a:pathLst>
            </a:custGeom>
            <a:solidFill>
              <a:srgbClr val="8BACA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477" y="164249"/>
            <a:ext cx="9431865" cy="6993465"/>
            <a:chOff x="0" y="0"/>
            <a:chExt cx="12575819" cy="93246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75794" cy="9324594"/>
            </a:xfrm>
            <a:custGeom>
              <a:avLst/>
              <a:gdLst/>
              <a:ahLst/>
              <a:cxnLst/>
              <a:rect r="r" b="b" t="t" l="l"/>
              <a:pathLst>
                <a:path h="9324594" w="12575794">
                  <a:moveTo>
                    <a:pt x="6287008" y="9324594"/>
                  </a:moveTo>
                  <a:lnTo>
                    <a:pt x="0" y="9324594"/>
                  </a:lnTo>
                  <a:lnTo>
                    <a:pt x="0" y="0"/>
                  </a:lnTo>
                  <a:lnTo>
                    <a:pt x="12575794" y="0"/>
                  </a:lnTo>
                  <a:lnTo>
                    <a:pt x="12575794" y="9324594"/>
                  </a:lnTo>
                  <a:lnTo>
                    <a:pt x="6287008" y="93245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133" t="0" r="-45133" b="0"/>
              </a:stretch>
            </a:blipFill>
            <a:ln w="10160" cap="sq">
              <a:solidFill>
                <a:srgbClr val="7A979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325117" y="318773"/>
            <a:ext cx="9264567" cy="539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5"/>
              </a:lnSpc>
            </a:pPr>
          </a:p>
          <a:p>
            <a:pPr algn="ctr">
              <a:lnSpc>
                <a:spcPts val="4095"/>
              </a:lnSpc>
            </a:pPr>
          </a:p>
          <a:p>
            <a:pPr algn="ctr">
              <a:lnSpc>
                <a:spcPts val="4095"/>
              </a:lnSpc>
            </a:pPr>
            <a:r>
              <a:rPr lang="en-US" b="true" sz="34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TAE-II </a:t>
            </a:r>
          </a:p>
          <a:p>
            <a:pPr algn="ctr">
              <a:lnSpc>
                <a:spcPts val="4095"/>
              </a:lnSpc>
            </a:pPr>
            <a:r>
              <a:rPr lang="en-US" b="true" sz="34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Seminar</a:t>
            </a:r>
          </a:p>
          <a:p>
            <a:pPr algn="ctr">
              <a:lnSpc>
                <a:spcPts val="4095"/>
              </a:lnSpc>
            </a:pPr>
            <a:r>
              <a:rPr lang="en-US" b="true" sz="34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</a:t>
            </a:r>
          </a:p>
          <a:p>
            <a:pPr algn="ctr">
              <a:lnSpc>
                <a:spcPts val="4095"/>
              </a:lnSpc>
            </a:pPr>
            <a:r>
              <a:rPr lang="en-US" b="true" sz="3413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</a:t>
            </a:r>
            <a:r>
              <a:rPr lang="en-US" sz="34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Thompson’s Construction Engine</a:t>
            </a:r>
            <a:r>
              <a:rPr lang="en-US" b="true" sz="3413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”</a:t>
            </a:r>
          </a:p>
          <a:p>
            <a:pPr algn="ctr">
              <a:lnSpc>
                <a:spcPts val="4095"/>
              </a:lnSpc>
            </a:pPr>
            <a:r>
              <a:rPr lang="en-US" b="true" sz="3413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under the course</a:t>
            </a:r>
          </a:p>
          <a:p>
            <a:pPr algn="ctr">
              <a:lnSpc>
                <a:spcPts val="4095"/>
              </a:lnSpc>
            </a:pPr>
            <a:r>
              <a:rPr lang="en-US" b="true" sz="3413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Theory of Computation (N-PCCCM503T)</a:t>
            </a:r>
          </a:p>
          <a:p>
            <a:pPr algn="ctr">
              <a:lnSpc>
                <a:spcPts val="3583"/>
              </a:lnSpc>
            </a:pPr>
          </a:p>
          <a:p>
            <a:pPr algn="ctr">
              <a:lnSpc>
                <a:spcPts val="409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91734" y="4857921"/>
            <a:ext cx="2746077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b="true" sz="213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</a:t>
            </a:r>
          </a:p>
          <a:p>
            <a:pPr algn="l">
              <a:lnSpc>
                <a:spcPts val="2559"/>
              </a:lnSpc>
            </a:pPr>
            <a:r>
              <a:rPr lang="en-US" b="true" sz="213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Piyush Bhagwatkar</a:t>
            </a:r>
          </a:p>
          <a:p>
            <a:pPr algn="l">
              <a:lnSpc>
                <a:spcPts val="2559"/>
              </a:lnSpc>
            </a:pPr>
            <a:r>
              <a:rPr lang="en-US" b="true" sz="213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CM24099</a:t>
            </a:r>
          </a:p>
          <a:p>
            <a:pPr algn="l">
              <a:lnSpc>
                <a:spcPts val="2559"/>
              </a:lnSpc>
            </a:pPr>
            <a:r>
              <a:rPr lang="en-US" b="true" sz="213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            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22641" y="4624911"/>
            <a:ext cx="3381918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9"/>
              </a:lnSpc>
            </a:pPr>
            <a:r>
              <a:rPr lang="en-US" b="true" sz="213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Under the Guidance </a:t>
            </a:r>
          </a:p>
          <a:p>
            <a:pPr algn="ctr">
              <a:lnSpc>
                <a:spcPts val="2559"/>
              </a:lnSpc>
            </a:pPr>
            <a:r>
              <a:rPr lang="en-US" b="true" sz="213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 </a:t>
            </a:r>
          </a:p>
          <a:p>
            <a:pPr algn="ctr">
              <a:lnSpc>
                <a:spcPts val="2559"/>
              </a:lnSpc>
            </a:pPr>
            <a:r>
              <a:rPr lang="en-US" b="true" sz="213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Mr. Rahul Bambodkar</a:t>
            </a:r>
          </a:p>
          <a:p>
            <a:pPr algn="l">
              <a:lnSpc>
                <a:spcPts val="2559"/>
              </a:lnSpc>
            </a:pPr>
            <a:r>
              <a:rPr lang="en-US" b="true" sz="2133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1913" y="5912710"/>
            <a:ext cx="6890976" cy="353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6"/>
              </a:lnSpc>
            </a:pPr>
            <a:r>
              <a:rPr lang="en-US" b="true" sz="23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5ᵗʰ Sem, Session:2026-27 (ODD )</a:t>
            </a:r>
          </a:p>
          <a:p>
            <a:pPr algn="ctr">
              <a:lnSpc>
                <a:spcPts val="2304"/>
              </a:lnSpc>
            </a:pPr>
            <a:r>
              <a:rPr lang="en-US" b="true" sz="192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Emerging Technologies (AI&amp;ML )</a:t>
            </a:r>
          </a:p>
          <a:p>
            <a:pPr algn="l">
              <a:lnSpc>
                <a:spcPts val="23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576323" y="6899272"/>
            <a:ext cx="6013361" cy="239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b="true" sz="149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06593" y="176594"/>
            <a:ext cx="8501624" cy="1135475"/>
            <a:chOff x="0" y="0"/>
            <a:chExt cx="11335499" cy="151396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35512" cy="1513967"/>
            </a:xfrm>
            <a:custGeom>
              <a:avLst/>
              <a:gdLst/>
              <a:ahLst/>
              <a:cxnLst/>
              <a:rect r="r" b="b" t="t" l="l"/>
              <a:pathLst>
                <a:path h="1513967" w="11335512">
                  <a:moveTo>
                    <a:pt x="0" y="0"/>
                  </a:moveTo>
                  <a:lnTo>
                    <a:pt x="11335512" y="0"/>
                  </a:lnTo>
                  <a:lnTo>
                    <a:pt x="11335512" y="1513967"/>
                  </a:lnTo>
                  <a:lnTo>
                    <a:pt x="0" y="1513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557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791" y="6816681"/>
            <a:ext cx="9421711" cy="330537"/>
            <a:chOff x="0" y="0"/>
            <a:chExt cx="12562281" cy="440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62332" cy="440690"/>
            </a:xfrm>
            <a:custGeom>
              <a:avLst/>
              <a:gdLst/>
              <a:ahLst/>
              <a:cxnLst/>
              <a:rect r="r" b="b" t="t" l="l"/>
              <a:pathLst>
                <a:path h="440690" w="12562332">
                  <a:moveTo>
                    <a:pt x="12562332" y="0"/>
                  </a:moveTo>
                  <a:lnTo>
                    <a:pt x="0" y="0"/>
                  </a:lnTo>
                  <a:lnTo>
                    <a:pt x="0" y="440690"/>
                  </a:lnTo>
                  <a:lnTo>
                    <a:pt x="12562332" y="440690"/>
                  </a:lnTo>
                  <a:close/>
                </a:path>
              </a:pathLst>
            </a:custGeom>
            <a:solidFill>
              <a:srgbClr val="8BACA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477" y="164249"/>
            <a:ext cx="9431865" cy="6993465"/>
            <a:chOff x="0" y="0"/>
            <a:chExt cx="12575819" cy="93246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75794" cy="9324594"/>
            </a:xfrm>
            <a:custGeom>
              <a:avLst/>
              <a:gdLst/>
              <a:ahLst/>
              <a:cxnLst/>
              <a:rect r="r" b="b" t="t" l="l"/>
              <a:pathLst>
                <a:path h="9324594" w="12575794">
                  <a:moveTo>
                    <a:pt x="6287008" y="9324594"/>
                  </a:moveTo>
                  <a:lnTo>
                    <a:pt x="0" y="9324594"/>
                  </a:lnTo>
                  <a:lnTo>
                    <a:pt x="0" y="0"/>
                  </a:lnTo>
                  <a:lnTo>
                    <a:pt x="12575794" y="0"/>
                  </a:lnTo>
                  <a:lnTo>
                    <a:pt x="12575794" y="9324594"/>
                  </a:lnTo>
                  <a:lnTo>
                    <a:pt x="6287008" y="93245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133" t="0" r="-45133" b="0"/>
              </a:stretch>
            </a:blipFill>
            <a:ln w="10160" cap="sq">
              <a:solidFill>
                <a:srgbClr val="7A979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15261" y="407613"/>
            <a:ext cx="832000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b="true" sz="341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INDEX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6701" y="1422864"/>
            <a:ext cx="8137122" cy="461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4544" indent="-137272" lvl="1">
              <a:lnSpc>
                <a:spcPts val="2559"/>
              </a:lnSpc>
              <a:buAutoNum type="arabicPeriod" startAt="1"/>
            </a:pP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</a:p>
          <a:p>
            <a:pPr algn="l" marL="274544" indent="-137272" lvl="1">
              <a:lnSpc>
                <a:spcPts val="2559"/>
              </a:lnSpc>
              <a:buAutoNum type="arabicPeriod" startAt="1"/>
            </a:pP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Theoretical Context</a:t>
            </a:r>
          </a:p>
          <a:p>
            <a:pPr algn="l" marL="274544" indent="-137272" lvl="1">
              <a:lnSpc>
                <a:spcPts val="2559"/>
              </a:lnSpc>
              <a:buAutoNum type="arabicPeriod" startAt="1"/>
            </a:pP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Formal Mathematical Definition</a:t>
            </a:r>
          </a:p>
          <a:p>
            <a:pPr algn="l" marL="274544" indent="-137272" lvl="1">
              <a:lnSpc>
                <a:spcPts val="2559"/>
              </a:lnSpc>
              <a:buAutoNum type="arabicPeriod" startAt="1"/>
            </a:pP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Automaton / Model Design /Logic Breakdown</a:t>
            </a:r>
          </a:p>
          <a:p>
            <a:pPr algn="l" marL="274544" indent="-137272" lvl="1">
              <a:lnSpc>
                <a:spcPts val="2559"/>
              </a:lnSpc>
              <a:buAutoNum type="arabicPeriod" startAt="1"/>
            </a:pP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Complexity &amp; Decidability Analysis</a:t>
            </a:r>
          </a:p>
          <a:p>
            <a:pPr algn="l" marL="274544" indent="-137272" lvl="1">
              <a:lnSpc>
                <a:spcPts val="2559"/>
              </a:lnSpc>
              <a:buAutoNum type="arabicPeriod" startAt="1"/>
            </a:pP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Real-World CSE Applications</a:t>
            </a:r>
          </a:p>
          <a:p>
            <a:pPr algn="l" marL="274544" indent="-137272" lvl="1">
              <a:lnSpc>
                <a:spcPts val="2559"/>
              </a:lnSpc>
              <a:buAutoNum type="arabicPeriod" startAt="1"/>
            </a:pP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Comparative Analysis</a:t>
            </a:r>
          </a:p>
          <a:p>
            <a:pPr algn="l" marL="274544" indent="-137272" lvl="1">
              <a:lnSpc>
                <a:spcPts val="2559"/>
              </a:lnSpc>
              <a:buAutoNum type="arabicPeriod" startAt="1"/>
            </a:pP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 &amp; Key Takeaways</a:t>
            </a:r>
          </a:p>
          <a:p>
            <a:pPr algn="l" marL="274544" indent="-137272" lvl="1">
              <a:lnSpc>
                <a:spcPts val="2559"/>
              </a:lnSpc>
              <a:buAutoNum type="arabicPeriod" startAt="1"/>
            </a:pP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791" y="6816681"/>
            <a:ext cx="9421711" cy="330537"/>
            <a:chOff x="0" y="0"/>
            <a:chExt cx="12562281" cy="440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62332" cy="440690"/>
            </a:xfrm>
            <a:custGeom>
              <a:avLst/>
              <a:gdLst/>
              <a:ahLst/>
              <a:cxnLst/>
              <a:rect r="r" b="b" t="t" l="l"/>
              <a:pathLst>
                <a:path h="440690" w="12562332">
                  <a:moveTo>
                    <a:pt x="12562332" y="0"/>
                  </a:moveTo>
                  <a:lnTo>
                    <a:pt x="0" y="0"/>
                  </a:lnTo>
                  <a:lnTo>
                    <a:pt x="0" y="440690"/>
                  </a:lnTo>
                  <a:lnTo>
                    <a:pt x="12562332" y="440690"/>
                  </a:lnTo>
                  <a:close/>
                </a:path>
              </a:pathLst>
            </a:custGeom>
            <a:solidFill>
              <a:srgbClr val="8BACA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477" y="164249"/>
            <a:ext cx="9431865" cy="6993465"/>
            <a:chOff x="0" y="0"/>
            <a:chExt cx="12575819" cy="93246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75794" cy="9324594"/>
            </a:xfrm>
            <a:custGeom>
              <a:avLst/>
              <a:gdLst/>
              <a:ahLst/>
              <a:cxnLst/>
              <a:rect r="r" b="b" t="t" l="l"/>
              <a:pathLst>
                <a:path h="9324594" w="12575794">
                  <a:moveTo>
                    <a:pt x="6287008" y="9324594"/>
                  </a:moveTo>
                  <a:lnTo>
                    <a:pt x="0" y="9324594"/>
                  </a:lnTo>
                  <a:lnTo>
                    <a:pt x="0" y="0"/>
                  </a:lnTo>
                  <a:lnTo>
                    <a:pt x="12575794" y="0"/>
                  </a:lnTo>
                  <a:lnTo>
                    <a:pt x="12575794" y="9324594"/>
                  </a:lnTo>
                  <a:lnTo>
                    <a:pt x="6287008" y="93245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133" t="0" r="-45133" b="0"/>
              </a:stretch>
            </a:blipFill>
            <a:ln w="10160" cap="sq">
              <a:solidFill>
                <a:srgbClr val="7A979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15261" y="407613"/>
            <a:ext cx="832000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1. 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5261" y="1377144"/>
            <a:ext cx="8320002" cy="2635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Thompson’s Construction Engine: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compiler front-end that reads a basic regular expression (supporting ., |, *) and mathematically constructs its equivalent Epsilon-NFA graph.</a:t>
            </a:r>
          </a:p>
          <a:p>
            <a:pPr algn="l">
              <a:lnSpc>
                <a:spcPts val="2559"/>
              </a:lnSpc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Model: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Streamlit app that shows the ε-NFA graph and results for valid and invalid inputs.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791" y="6816681"/>
            <a:ext cx="9421711" cy="330537"/>
            <a:chOff x="0" y="0"/>
            <a:chExt cx="12562281" cy="440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62332" cy="440690"/>
            </a:xfrm>
            <a:custGeom>
              <a:avLst/>
              <a:gdLst/>
              <a:ahLst/>
              <a:cxnLst/>
              <a:rect r="r" b="b" t="t" l="l"/>
              <a:pathLst>
                <a:path h="440690" w="12562332">
                  <a:moveTo>
                    <a:pt x="12562332" y="0"/>
                  </a:moveTo>
                  <a:lnTo>
                    <a:pt x="0" y="0"/>
                  </a:lnTo>
                  <a:lnTo>
                    <a:pt x="0" y="440690"/>
                  </a:lnTo>
                  <a:lnTo>
                    <a:pt x="12562332" y="440690"/>
                  </a:lnTo>
                  <a:close/>
                </a:path>
              </a:pathLst>
            </a:custGeom>
            <a:solidFill>
              <a:srgbClr val="8BACA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477" y="164249"/>
            <a:ext cx="9431865" cy="6993465"/>
            <a:chOff x="0" y="0"/>
            <a:chExt cx="12575819" cy="93246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75794" cy="9324594"/>
            </a:xfrm>
            <a:custGeom>
              <a:avLst/>
              <a:gdLst/>
              <a:ahLst/>
              <a:cxnLst/>
              <a:rect r="r" b="b" t="t" l="l"/>
              <a:pathLst>
                <a:path h="9324594" w="12575794">
                  <a:moveTo>
                    <a:pt x="6287008" y="9324594"/>
                  </a:moveTo>
                  <a:lnTo>
                    <a:pt x="0" y="9324594"/>
                  </a:lnTo>
                  <a:lnTo>
                    <a:pt x="0" y="0"/>
                  </a:lnTo>
                  <a:lnTo>
                    <a:pt x="12575794" y="0"/>
                  </a:lnTo>
                  <a:lnTo>
                    <a:pt x="12575794" y="9324594"/>
                  </a:lnTo>
                  <a:lnTo>
                    <a:pt x="6287008" y="93245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133" t="0" r="-45133" b="0"/>
              </a:stretch>
            </a:blipFill>
            <a:ln w="10160" cap="sq">
              <a:solidFill>
                <a:srgbClr val="7A979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437759" y="6583680"/>
            <a:ext cx="7127338" cy="731139"/>
            <a:chOff x="0" y="0"/>
            <a:chExt cx="9503118" cy="9748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03114" cy="974848"/>
            </a:xfrm>
            <a:custGeom>
              <a:avLst/>
              <a:gdLst/>
              <a:ahLst/>
              <a:cxnLst/>
              <a:rect r="r" b="b" t="t" l="l"/>
              <a:pathLst>
                <a:path h="974848" w="9503114">
                  <a:moveTo>
                    <a:pt x="0" y="0"/>
                  </a:moveTo>
                  <a:lnTo>
                    <a:pt x="9503114" y="0"/>
                  </a:lnTo>
                  <a:lnTo>
                    <a:pt x="9503114" y="974848"/>
                  </a:lnTo>
                  <a:lnTo>
                    <a:pt x="0" y="9748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45" r="0" b="-1399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9503118" cy="984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8B8B8B"/>
                  </a:solidFill>
                  <a:latin typeface="Cambria"/>
                  <a:ea typeface="Cambria"/>
                  <a:cs typeface="Cambria"/>
                  <a:sym typeface="Cambria"/>
                </a:rPr>
                <a:t>S. B. Jain Institute of Technology Management and research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15261" y="407613"/>
            <a:ext cx="832000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2. Theoretical Context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6701" y="1422864"/>
            <a:ext cx="8137122" cy="366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Chomsky Hierarchy Placement: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 3 (Regular languages); regular expressions, DFAs and ε-NFAs describe the same class.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Language Definition: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L(R) = { w ∈ Σ* | w is generated by R } = L(N), where N is the ε-NFA built from R</a:t>
            </a:r>
          </a:p>
          <a:p>
            <a:pPr algn="l" marL="274544" indent="-137272" lvl="1">
              <a:lnSpc>
                <a:spcPts val="2559"/>
              </a:lnSpc>
            </a:pP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Decidability Property:</a:t>
            </a:r>
          </a:p>
          <a:p>
            <a:pPr algn="l" marL="762224" indent="-254075" lvl="2">
              <a:lnSpc>
                <a:spcPts val="2559"/>
              </a:lnSpc>
              <a:buFont typeface="Arial"/>
              <a:buChar char="⚬"/>
            </a:pP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construction is an </a:t>
            </a:r>
            <a:r>
              <a:rPr lang="en-US" sz="213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algorithm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it always terminates and gives one ε-NFA for every valid regex.</a:t>
            </a:r>
          </a:p>
          <a:p>
            <a:pPr algn="l" marL="762224" indent="-254075" lvl="2">
              <a:lnSpc>
                <a:spcPts val="2559"/>
              </a:lnSpc>
              <a:buFont typeface="Arial"/>
              <a:buChar char="⚬"/>
            </a:pP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Membership is </a:t>
            </a:r>
            <a:r>
              <a:rPr lang="en-US" sz="213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decidable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simulate N on w in O(m·|w|) time.</a:t>
            </a:r>
          </a:p>
          <a:p>
            <a:pPr algn="l" marL="762224" indent="-254075" lvl="2">
              <a:lnSpc>
                <a:spcPts val="2559"/>
              </a:lnSpc>
              <a:buFont typeface="Arial"/>
              <a:buChar char="⚬"/>
            </a:pP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Hence regular languages are closed under union, concatenation and star.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791" y="6816681"/>
            <a:ext cx="9421711" cy="330537"/>
            <a:chOff x="0" y="0"/>
            <a:chExt cx="12562281" cy="440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62332" cy="440690"/>
            </a:xfrm>
            <a:custGeom>
              <a:avLst/>
              <a:gdLst/>
              <a:ahLst/>
              <a:cxnLst/>
              <a:rect r="r" b="b" t="t" l="l"/>
              <a:pathLst>
                <a:path h="440690" w="12562332">
                  <a:moveTo>
                    <a:pt x="12562332" y="0"/>
                  </a:moveTo>
                  <a:lnTo>
                    <a:pt x="0" y="0"/>
                  </a:lnTo>
                  <a:lnTo>
                    <a:pt x="0" y="440690"/>
                  </a:lnTo>
                  <a:lnTo>
                    <a:pt x="12562332" y="440690"/>
                  </a:lnTo>
                  <a:close/>
                </a:path>
              </a:pathLst>
            </a:custGeom>
            <a:solidFill>
              <a:srgbClr val="8BACA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477" y="164249"/>
            <a:ext cx="9431865" cy="6993465"/>
            <a:chOff x="0" y="0"/>
            <a:chExt cx="12575819" cy="93246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75794" cy="9324594"/>
            </a:xfrm>
            <a:custGeom>
              <a:avLst/>
              <a:gdLst/>
              <a:ahLst/>
              <a:cxnLst/>
              <a:rect r="r" b="b" t="t" l="l"/>
              <a:pathLst>
                <a:path h="9324594" w="12575794">
                  <a:moveTo>
                    <a:pt x="6287008" y="9324594"/>
                  </a:moveTo>
                  <a:lnTo>
                    <a:pt x="0" y="9324594"/>
                  </a:lnTo>
                  <a:lnTo>
                    <a:pt x="0" y="0"/>
                  </a:lnTo>
                  <a:lnTo>
                    <a:pt x="12575794" y="0"/>
                  </a:lnTo>
                  <a:lnTo>
                    <a:pt x="12575794" y="9324594"/>
                  </a:lnTo>
                  <a:lnTo>
                    <a:pt x="6287008" y="93245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133" t="0" r="-45133" b="0"/>
              </a:stretch>
            </a:blipFill>
            <a:ln w="10160" cap="sq">
              <a:solidFill>
                <a:srgbClr val="7A979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06701" y="453333"/>
            <a:ext cx="813712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3. Formal Mathematical Definition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6701" y="1422864"/>
            <a:ext cx="8137122" cy="4711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ε-NFA N = (Q, Σ, δ, q0, F) is built from regex R by recursive rules: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States (Q):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symbol, | and * adds 2 new states.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Alphabet &amp; δ: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Σ = letters/digits in R; δ : Q × (Σ ∪ {ε}) → P(Q).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Symbol a: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 edge  qi —a→ qj.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Union R1|R2: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start and accept; ε-edges to both starts and from both accepts.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Concatenation R1.R2: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ε-edge from accept of R1 to start of R2.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Star R1*: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start and accept; ε-edges to loop back and to skip R1.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Acceptance: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 ∈ L(N) iff closure of δ̂(q0, w) contains the accept state.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791" y="6816681"/>
            <a:ext cx="9421711" cy="330537"/>
            <a:chOff x="0" y="0"/>
            <a:chExt cx="12562281" cy="440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62332" cy="440690"/>
            </a:xfrm>
            <a:custGeom>
              <a:avLst/>
              <a:gdLst/>
              <a:ahLst/>
              <a:cxnLst/>
              <a:rect r="r" b="b" t="t" l="l"/>
              <a:pathLst>
                <a:path h="440690" w="12562332">
                  <a:moveTo>
                    <a:pt x="12562332" y="0"/>
                  </a:moveTo>
                  <a:lnTo>
                    <a:pt x="0" y="0"/>
                  </a:lnTo>
                  <a:lnTo>
                    <a:pt x="0" y="440690"/>
                  </a:lnTo>
                  <a:lnTo>
                    <a:pt x="12562332" y="440690"/>
                  </a:lnTo>
                  <a:close/>
                </a:path>
              </a:pathLst>
            </a:custGeom>
            <a:solidFill>
              <a:srgbClr val="8BACA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477" y="164249"/>
            <a:ext cx="9431865" cy="6993465"/>
            <a:chOff x="0" y="0"/>
            <a:chExt cx="12575819" cy="93246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75794" cy="9324594"/>
            </a:xfrm>
            <a:custGeom>
              <a:avLst/>
              <a:gdLst/>
              <a:ahLst/>
              <a:cxnLst/>
              <a:rect r="r" b="b" t="t" l="l"/>
              <a:pathLst>
                <a:path h="9324594" w="12575794">
                  <a:moveTo>
                    <a:pt x="6287008" y="9324594"/>
                  </a:moveTo>
                  <a:lnTo>
                    <a:pt x="0" y="9324594"/>
                  </a:lnTo>
                  <a:lnTo>
                    <a:pt x="0" y="0"/>
                  </a:lnTo>
                  <a:lnTo>
                    <a:pt x="12575794" y="0"/>
                  </a:lnTo>
                  <a:lnTo>
                    <a:pt x="12575794" y="9324594"/>
                  </a:lnTo>
                  <a:lnTo>
                    <a:pt x="6287008" y="93245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133" t="0" r="-45133" b="0"/>
              </a:stretch>
            </a:blipFill>
            <a:ln w="10160" cap="sq">
              <a:solidFill>
                <a:srgbClr val="7A979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06701" y="453333"/>
            <a:ext cx="590051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4. Algorithm &amp; Model 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6701" y="1422864"/>
            <a:ext cx="8137122" cy="4898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213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Input: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regex R with operators ., |, * and ( ).</a:t>
            </a:r>
          </a:p>
          <a:p>
            <a:pPr algn="l">
              <a:lnSpc>
                <a:spcPts val="2559"/>
              </a:lnSpc>
            </a:pPr>
            <a:r>
              <a:rPr lang="en-US" sz="213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Parse: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lexer and recursive-descent parser check syntax and emit postfix.</a:t>
            </a:r>
          </a:p>
          <a:p>
            <a:pPr algn="l">
              <a:lnSpc>
                <a:spcPts val="2559"/>
              </a:lnSpc>
            </a:pPr>
            <a:r>
              <a:rPr lang="en-US" sz="213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Build: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one Thompson rule per postfix symbol; each fragment has one start and one accept state.</a:t>
            </a:r>
          </a:p>
          <a:p>
            <a:pPr algn="l">
              <a:lnSpc>
                <a:spcPts val="2559"/>
              </a:lnSpc>
            </a:pPr>
            <a:r>
              <a:rPr lang="en-US" sz="213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Table for R = a|b*  (postfix: a b * |):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715263" y="3733333"/>
          <a:ext cx="7938347" cy="2235200"/>
        </p:xfrm>
        <a:graphic>
          <a:graphicData uri="http://schemas.openxmlformats.org/drawingml/2006/table">
            <a:tbl>
              <a:tblPr/>
              <a:tblGrid>
                <a:gridCol w="1071896"/>
                <a:gridCol w="2439311"/>
                <a:gridCol w="2123754"/>
                <a:gridCol w="2303386"/>
              </a:tblGrid>
              <a:tr h="4470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Step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Postfix symbol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Rule applied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Result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symbol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q0 —a→ q1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2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symbol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q2 —b→ q3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3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*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Kleene star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q4, q5 + 4 ε-edges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0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4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|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union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q6, q7 + 4 ε-edges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791" y="6816681"/>
            <a:ext cx="9421711" cy="330537"/>
            <a:chOff x="0" y="0"/>
            <a:chExt cx="12562281" cy="440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62332" cy="440690"/>
            </a:xfrm>
            <a:custGeom>
              <a:avLst/>
              <a:gdLst/>
              <a:ahLst/>
              <a:cxnLst/>
              <a:rect r="r" b="b" t="t" l="l"/>
              <a:pathLst>
                <a:path h="440690" w="12562332">
                  <a:moveTo>
                    <a:pt x="12562332" y="0"/>
                  </a:moveTo>
                  <a:lnTo>
                    <a:pt x="0" y="0"/>
                  </a:lnTo>
                  <a:lnTo>
                    <a:pt x="0" y="440690"/>
                  </a:lnTo>
                  <a:lnTo>
                    <a:pt x="12562332" y="440690"/>
                  </a:lnTo>
                  <a:close/>
                </a:path>
              </a:pathLst>
            </a:custGeom>
            <a:solidFill>
              <a:srgbClr val="8BACA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477" y="164249"/>
            <a:ext cx="9431865" cy="6993465"/>
            <a:chOff x="0" y="0"/>
            <a:chExt cx="12575819" cy="93246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75794" cy="9324594"/>
            </a:xfrm>
            <a:custGeom>
              <a:avLst/>
              <a:gdLst/>
              <a:ahLst/>
              <a:cxnLst/>
              <a:rect r="r" b="b" t="t" l="l"/>
              <a:pathLst>
                <a:path h="9324594" w="12575794">
                  <a:moveTo>
                    <a:pt x="6287008" y="9324594"/>
                  </a:moveTo>
                  <a:lnTo>
                    <a:pt x="0" y="9324594"/>
                  </a:lnTo>
                  <a:lnTo>
                    <a:pt x="0" y="0"/>
                  </a:lnTo>
                  <a:lnTo>
                    <a:pt x="12575794" y="0"/>
                  </a:lnTo>
                  <a:lnTo>
                    <a:pt x="12575794" y="9324594"/>
                  </a:lnTo>
                  <a:lnTo>
                    <a:pt x="6287008" y="93245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133" t="0" r="-45133" b="0"/>
              </a:stretch>
            </a:blipFill>
            <a:ln w="10160" cap="sq">
              <a:solidFill>
                <a:srgbClr val="7A979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06701" y="453333"/>
            <a:ext cx="626350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4. Model Results &amp; Test Cases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715263" y="1440000"/>
          <a:ext cx="7938347" cy="4334933"/>
        </p:xfrm>
        <a:graphic>
          <a:graphicData uri="http://schemas.openxmlformats.org/drawingml/2006/table">
            <a:tbl>
              <a:tblPr/>
              <a:tblGrid>
                <a:gridCol w="1900000"/>
                <a:gridCol w="2031825"/>
                <a:gridCol w="1703011"/>
                <a:gridCol w="2303386"/>
              </a:tblGrid>
              <a:tr h="5418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Test Case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Regex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Input String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Output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8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1. Valid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(a|b)*.a.b.b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abb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ACCEPTED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8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2. Valid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(a|b)*.a.b.b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abab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REJECTED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8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3. Valid (ε)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a*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(empty)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ACCEPTED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8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4. Valid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a.b|c*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ccc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ACCEPTED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8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5. Invalid regex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(a|b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–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Error: missing )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8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6. Invalid regex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a||b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–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Error: missing operand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86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7. Invalid char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a+b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–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91"/>
                        </a:lnSpc>
                        <a:defRPr/>
                      </a:pPr>
                      <a:r>
                        <a:rPr lang="en-US" sz="1493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Error: invalid char +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791" y="6816681"/>
            <a:ext cx="9421711" cy="330537"/>
            <a:chOff x="0" y="0"/>
            <a:chExt cx="12562281" cy="440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62332" cy="440690"/>
            </a:xfrm>
            <a:custGeom>
              <a:avLst/>
              <a:gdLst/>
              <a:ahLst/>
              <a:cxnLst/>
              <a:rect r="r" b="b" t="t" l="l"/>
              <a:pathLst>
                <a:path h="440690" w="12562332">
                  <a:moveTo>
                    <a:pt x="12562332" y="0"/>
                  </a:moveTo>
                  <a:lnTo>
                    <a:pt x="0" y="0"/>
                  </a:lnTo>
                  <a:lnTo>
                    <a:pt x="0" y="440690"/>
                  </a:lnTo>
                  <a:lnTo>
                    <a:pt x="12562332" y="440690"/>
                  </a:lnTo>
                  <a:close/>
                </a:path>
              </a:pathLst>
            </a:custGeom>
            <a:solidFill>
              <a:srgbClr val="8BACA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477" y="164249"/>
            <a:ext cx="9431865" cy="6993465"/>
            <a:chOff x="0" y="0"/>
            <a:chExt cx="12575819" cy="93246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75794" cy="9324594"/>
            </a:xfrm>
            <a:custGeom>
              <a:avLst/>
              <a:gdLst/>
              <a:ahLst/>
              <a:cxnLst/>
              <a:rect r="r" b="b" t="t" l="l"/>
              <a:pathLst>
                <a:path h="9324594" w="12575794">
                  <a:moveTo>
                    <a:pt x="6287008" y="9324594"/>
                  </a:moveTo>
                  <a:lnTo>
                    <a:pt x="0" y="9324594"/>
                  </a:lnTo>
                  <a:lnTo>
                    <a:pt x="0" y="0"/>
                  </a:lnTo>
                  <a:lnTo>
                    <a:pt x="12575794" y="0"/>
                  </a:lnTo>
                  <a:lnTo>
                    <a:pt x="12575794" y="9324594"/>
                  </a:lnTo>
                  <a:lnTo>
                    <a:pt x="6287008" y="93245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133" t="0" r="-45133" b="0"/>
              </a:stretch>
            </a:blipFill>
            <a:ln w="10160" cap="sq">
              <a:solidFill>
                <a:srgbClr val="7A979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06701" y="453333"/>
            <a:ext cx="580548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5. Complexity &amp; Decidability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6701" y="1422864"/>
            <a:ext cx="8137122" cy="287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213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Time Complexity of Construction: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O(m) for a regex of length m; each operator adds at most 2 states and 4 edges.</a:t>
            </a:r>
          </a:p>
          <a:p>
            <a:pPr algn="l">
              <a:lnSpc>
                <a:spcPts val="2559"/>
              </a:lnSpc>
            </a:pPr>
            <a:r>
              <a:rPr lang="en-US" sz="213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Space Complexity: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O(m); the ε-NFA has at most 2m states and 4m transitions.</a:t>
            </a:r>
          </a:p>
          <a:p>
            <a:pPr algn="l">
              <a:lnSpc>
                <a:spcPts val="2559"/>
              </a:lnSpc>
            </a:pPr>
            <a:r>
              <a:rPr lang="en-US" sz="213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Simulation Complexity: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O(m·|w|) to test a string w with ε-closure.</a:t>
            </a:r>
          </a:p>
          <a:p>
            <a:pPr algn="l">
              <a:lnSpc>
                <a:spcPts val="2559"/>
              </a:lnSpc>
            </a:pPr>
            <a:r>
              <a:rPr lang="en-US" sz="213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Decidability (Regex ↔ ε-NFA is Decidable):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construction always terminates, so every valid regex gets an ε-NFA.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Membership is </a:t>
            </a:r>
            <a:r>
              <a:rPr lang="en-US" sz="213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decidable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ε-NFA converts to a DFA by subset construction, O(2^n) worst case.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791" y="6816681"/>
            <a:ext cx="9421711" cy="330537"/>
            <a:chOff x="0" y="0"/>
            <a:chExt cx="12562281" cy="440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62332" cy="440690"/>
            </a:xfrm>
            <a:custGeom>
              <a:avLst/>
              <a:gdLst/>
              <a:ahLst/>
              <a:cxnLst/>
              <a:rect r="r" b="b" t="t" l="l"/>
              <a:pathLst>
                <a:path h="440690" w="12562332">
                  <a:moveTo>
                    <a:pt x="12562332" y="0"/>
                  </a:moveTo>
                  <a:lnTo>
                    <a:pt x="0" y="0"/>
                  </a:lnTo>
                  <a:lnTo>
                    <a:pt x="0" y="440690"/>
                  </a:lnTo>
                  <a:lnTo>
                    <a:pt x="12562332" y="440690"/>
                  </a:lnTo>
                  <a:close/>
                </a:path>
              </a:pathLst>
            </a:custGeom>
            <a:solidFill>
              <a:srgbClr val="8BACA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477" y="164249"/>
            <a:ext cx="9431865" cy="6993465"/>
            <a:chOff x="0" y="0"/>
            <a:chExt cx="12575819" cy="93246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75794" cy="9324594"/>
            </a:xfrm>
            <a:custGeom>
              <a:avLst/>
              <a:gdLst/>
              <a:ahLst/>
              <a:cxnLst/>
              <a:rect r="r" b="b" t="t" l="l"/>
              <a:pathLst>
                <a:path h="9324594" w="12575794">
                  <a:moveTo>
                    <a:pt x="6287008" y="9324594"/>
                  </a:moveTo>
                  <a:lnTo>
                    <a:pt x="0" y="9324594"/>
                  </a:lnTo>
                  <a:lnTo>
                    <a:pt x="0" y="0"/>
                  </a:lnTo>
                  <a:lnTo>
                    <a:pt x="12575794" y="0"/>
                  </a:lnTo>
                  <a:lnTo>
                    <a:pt x="12575794" y="9324594"/>
                  </a:lnTo>
                  <a:lnTo>
                    <a:pt x="6287008" y="93245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133" t="0" r="-45133" b="0"/>
              </a:stretch>
            </a:blipFill>
            <a:ln w="10160" cap="sq">
              <a:solidFill>
                <a:srgbClr val="7A979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06701" y="453333"/>
            <a:ext cx="813712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6. Real-World CSE Applications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6701" y="1422864"/>
            <a:ext cx="8137122" cy="362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Compiler lexers: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Lex/Flex turn token regexes into automata, as this engine does.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Text search: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grep, sed and awk compile patterns into NFAs or DFAs.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Input validation: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emails, phone numbers and form fields are checked with regex engines.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Network security: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intrusion-detection rules match packet patterns using automata.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Regex libraries: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engines such as RE2 simulate NFAs to avoid exponential backtracking.</a:t>
            </a:r>
          </a:p>
          <a:p>
            <a:pPr algn="l" marL="274544" indent="-137272" lvl="1">
              <a:lnSpc>
                <a:spcPts val="2559"/>
              </a:lnSpc>
              <a:buFont typeface="Arial"/>
              <a:buChar char="•"/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Education: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classic example for teaching regex and automata equivalence.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791" y="6816681"/>
            <a:ext cx="9421711" cy="330537"/>
            <a:chOff x="0" y="0"/>
            <a:chExt cx="12562281" cy="440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62332" cy="440690"/>
            </a:xfrm>
            <a:custGeom>
              <a:avLst/>
              <a:gdLst/>
              <a:ahLst/>
              <a:cxnLst/>
              <a:rect r="r" b="b" t="t" l="l"/>
              <a:pathLst>
                <a:path h="440690" w="12562332">
                  <a:moveTo>
                    <a:pt x="12562332" y="0"/>
                  </a:moveTo>
                  <a:lnTo>
                    <a:pt x="0" y="0"/>
                  </a:lnTo>
                  <a:lnTo>
                    <a:pt x="0" y="440690"/>
                  </a:lnTo>
                  <a:lnTo>
                    <a:pt x="12562332" y="440690"/>
                  </a:lnTo>
                  <a:close/>
                </a:path>
              </a:pathLst>
            </a:custGeom>
            <a:solidFill>
              <a:srgbClr val="8BACA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477" y="164249"/>
            <a:ext cx="9431865" cy="6993465"/>
            <a:chOff x="0" y="0"/>
            <a:chExt cx="12575819" cy="93246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75794" cy="9324594"/>
            </a:xfrm>
            <a:custGeom>
              <a:avLst/>
              <a:gdLst/>
              <a:ahLst/>
              <a:cxnLst/>
              <a:rect r="r" b="b" t="t" l="l"/>
              <a:pathLst>
                <a:path h="9324594" w="12575794">
                  <a:moveTo>
                    <a:pt x="6287008" y="9324594"/>
                  </a:moveTo>
                  <a:lnTo>
                    <a:pt x="0" y="9324594"/>
                  </a:lnTo>
                  <a:lnTo>
                    <a:pt x="0" y="0"/>
                  </a:lnTo>
                  <a:lnTo>
                    <a:pt x="12575794" y="0"/>
                  </a:lnTo>
                  <a:lnTo>
                    <a:pt x="12575794" y="9324594"/>
                  </a:lnTo>
                  <a:lnTo>
                    <a:pt x="6287008" y="93245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133" t="0" r="-45133" b="0"/>
              </a:stretch>
            </a:blipFill>
            <a:ln w="10160" cap="sq">
              <a:solidFill>
                <a:srgbClr val="7A979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06701" y="453333"/>
            <a:ext cx="5011341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7. Comparative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6701" y="1422864"/>
            <a:ext cx="8137122" cy="1198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213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Model Suitability: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finite automaton is the right model: regular expressions describe exactly the regular languages, so no stack or tape is needed. A PDA or Turing Machine is more powerful than required.</a:t>
            </a:r>
          </a:p>
          <a:p>
            <a:pPr algn="l">
              <a:lnSpc>
                <a:spcPts val="2559"/>
              </a:lnSpc>
            </a:pPr>
            <a:r>
              <a:rPr lang="en-US" sz="213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Thompson vs Glushkov: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Thompson gives at most 2m states but many ε-edges; Glushkov gives an ε-free NFA with (number of symbols + 1) states.</a:t>
            </a:r>
          </a:p>
          <a:p>
            <a:pPr algn="l">
              <a:lnSpc>
                <a:spcPts val="2559"/>
              </a:lnSpc>
            </a:pPr>
            <a:r>
              <a:rPr lang="en-US" sz="213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Simulation vs Backtracking: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NFA simulation takes O(m·|w|) time, while backtracking engines can take exponential time on patterns like (a*)*b.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791" y="6816681"/>
            <a:ext cx="9421711" cy="330537"/>
            <a:chOff x="0" y="0"/>
            <a:chExt cx="12562281" cy="440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62332" cy="440690"/>
            </a:xfrm>
            <a:custGeom>
              <a:avLst/>
              <a:gdLst/>
              <a:ahLst/>
              <a:cxnLst/>
              <a:rect r="r" b="b" t="t" l="l"/>
              <a:pathLst>
                <a:path h="440690" w="12562332">
                  <a:moveTo>
                    <a:pt x="12562332" y="0"/>
                  </a:moveTo>
                  <a:lnTo>
                    <a:pt x="0" y="0"/>
                  </a:lnTo>
                  <a:lnTo>
                    <a:pt x="0" y="440690"/>
                  </a:lnTo>
                  <a:lnTo>
                    <a:pt x="12562332" y="440690"/>
                  </a:lnTo>
                  <a:close/>
                </a:path>
              </a:pathLst>
            </a:custGeom>
            <a:solidFill>
              <a:srgbClr val="8BACA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477" y="164249"/>
            <a:ext cx="9431865" cy="6993465"/>
            <a:chOff x="0" y="0"/>
            <a:chExt cx="12575819" cy="93246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75794" cy="9324594"/>
            </a:xfrm>
            <a:custGeom>
              <a:avLst/>
              <a:gdLst/>
              <a:ahLst/>
              <a:cxnLst/>
              <a:rect r="r" b="b" t="t" l="l"/>
              <a:pathLst>
                <a:path h="9324594" w="12575794">
                  <a:moveTo>
                    <a:pt x="6287008" y="9324594"/>
                  </a:moveTo>
                  <a:lnTo>
                    <a:pt x="0" y="9324594"/>
                  </a:lnTo>
                  <a:lnTo>
                    <a:pt x="0" y="0"/>
                  </a:lnTo>
                  <a:lnTo>
                    <a:pt x="12575794" y="0"/>
                  </a:lnTo>
                  <a:lnTo>
                    <a:pt x="12575794" y="9324594"/>
                  </a:lnTo>
                  <a:lnTo>
                    <a:pt x="6287008" y="93245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133" t="0" r="-45133" b="0"/>
              </a:stretch>
            </a:blipFill>
            <a:ln w="10160" cap="sq">
              <a:solidFill>
                <a:srgbClr val="7A979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06701" y="453333"/>
            <a:ext cx="660112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8. Conclusion &amp; Key Takeaways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6701" y="1422864"/>
            <a:ext cx="8137122" cy="2216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213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Automated Construction: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 a compiler front-end (lexer and recursive-descent parser) that converts a regex with ., |, * into an equivalent ε-NFA using Thompson’s construction.</a:t>
            </a:r>
          </a:p>
          <a:p>
            <a:pPr algn="l">
              <a:lnSpc>
                <a:spcPts val="2559"/>
              </a:lnSpc>
            </a:pPr>
            <a:r>
              <a:rPr lang="en-US" sz="213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Validated Results: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Shows the ε-NFA graph, transition table and ε-closure trace, accepts or rejects test strings, and reports invalid regexes with error positions.</a:t>
            </a:r>
          </a:p>
          <a:p>
            <a:pPr algn="l">
              <a:lnSpc>
                <a:spcPts val="2559"/>
              </a:lnSpc>
            </a:pPr>
            <a:r>
              <a:rPr lang="en-US" sz="213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Key Takeaway: </a:t>
            </a:r>
            <a:r>
              <a:rPr lang="en-US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Regular expressions and ε-NFAs are equivalent, and the construction is linear: at most 2 states per symbol, | or *.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791" y="6816681"/>
            <a:ext cx="9421711" cy="330537"/>
            <a:chOff x="0" y="0"/>
            <a:chExt cx="12562281" cy="4407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62332" cy="440690"/>
            </a:xfrm>
            <a:custGeom>
              <a:avLst/>
              <a:gdLst/>
              <a:ahLst/>
              <a:cxnLst/>
              <a:rect r="r" b="b" t="t" l="l"/>
              <a:pathLst>
                <a:path h="440690" w="12562332">
                  <a:moveTo>
                    <a:pt x="12562332" y="0"/>
                  </a:moveTo>
                  <a:lnTo>
                    <a:pt x="0" y="0"/>
                  </a:lnTo>
                  <a:lnTo>
                    <a:pt x="0" y="440690"/>
                  </a:lnTo>
                  <a:lnTo>
                    <a:pt x="12562332" y="440690"/>
                  </a:lnTo>
                  <a:close/>
                </a:path>
              </a:pathLst>
            </a:custGeom>
            <a:solidFill>
              <a:srgbClr val="8BACA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7477" y="164249"/>
            <a:ext cx="9431865" cy="6993465"/>
            <a:chOff x="0" y="0"/>
            <a:chExt cx="12575819" cy="93246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75794" cy="9324594"/>
            </a:xfrm>
            <a:custGeom>
              <a:avLst/>
              <a:gdLst/>
              <a:ahLst/>
              <a:cxnLst/>
              <a:rect r="r" b="b" t="t" l="l"/>
              <a:pathLst>
                <a:path h="9324594" w="12575794">
                  <a:moveTo>
                    <a:pt x="6287008" y="9324594"/>
                  </a:moveTo>
                  <a:lnTo>
                    <a:pt x="0" y="9324594"/>
                  </a:lnTo>
                  <a:lnTo>
                    <a:pt x="0" y="0"/>
                  </a:lnTo>
                  <a:lnTo>
                    <a:pt x="12575794" y="0"/>
                  </a:lnTo>
                  <a:lnTo>
                    <a:pt x="12575794" y="9324594"/>
                  </a:lnTo>
                  <a:lnTo>
                    <a:pt x="6287008" y="932459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133" t="0" r="-45133" b="0"/>
              </a:stretch>
            </a:blipFill>
            <a:ln w="10160" cap="sq">
              <a:solidFill>
                <a:srgbClr val="7A979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06701" y="453333"/>
            <a:ext cx="813712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9. References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6701" y="1422864"/>
            <a:ext cx="8137122" cy="116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213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Textbooks:</a:t>
            </a:r>
          </a:p>
          <a:p>
            <a:pPr algn="l" marL="274544" indent="-137272" lvl="1">
              <a:lnSpc>
                <a:spcPts val="2559"/>
              </a:lnSpc>
              <a:buAutoNum type="arabicPeriod" startAt="1"/>
            </a:pPr>
            <a:r>
              <a:rPr lang="en-US" sz="2133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Hopcroft, J. E., Motwani, R., &amp; Ullman, J. D. Introduction to Automata Theory, Languages, and Computation (3rd ed.).</a:t>
            </a:r>
          </a:p>
          <a:p>
            <a:pPr algn="l" marL="274544" indent="-137272" lvl="1">
              <a:lnSpc>
                <a:spcPts val="2559"/>
              </a:lnSpc>
              <a:buAutoNum type="arabicPeriod" startAt="1"/>
            </a:pPr>
            <a:r>
              <a:rPr lang="en-US" sz="2133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Sipser, M. Introduction to the Theory of Computation (3rd ed.).</a:t>
            </a:r>
          </a:p>
          <a:p>
            <a:pPr algn="l" marL="274544" indent="-137272" lvl="1">
              <a:lnSpc>
                <a:spcPts val="2559"/>
              </a:lnSpc>
            </a:pPr>
            <a:r>
              <a:rPr lang="en-US" b="true" sz="21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Research Paper &amp; Tools:</a:t>
            </a:r>
          </a:p>
          <a:p>
            <a:pPr algn="l" marL="274544" indent="-137272" lvl="1">
              <a:lnSpc>
                <a:spcPts val="2559"/>
              </a:lnSpc>
              <a:buAutoNum type="arabicPeriod" startAt="1"/>
            </a:pPr>
            <a:r>
              <a:rPr lang="en-US" sz="2133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Thompson, K. (1968). Regular expression search algorithm. Communications of the ACM, 11(6), 419–422.</a:t>
            </a:r>
          </a:p>
          <a:p>
            <a:pPr algn="l" marL="274544" indent="-137272" lvl="1">
              <a:lnSpc>
                <a:spcPts val="2559"/>
              </a:lnSpc>
              <a:buAutoNum type="arabicPeriod" startAt="1"/>
            </a:pPr>
            <a:r>
              <a:rPr lang="en-US" sz="2133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Cox, R. (2007). Regular Expression Matching Can Be Simple and Fast. https://swtch.com/~rsc/regexp/regexp1.html</a:t>
            </a:r>
          </a:p>
          <a:p>
            <a:pPr algn="l" marL="274544" indent="-137272" lvl="1">
              <a:lnSpc>
                <a:spcPts val="2559"/>
              </a:lnSpc>
              <a:buAutoNum type="arabicPeriod" startAt="1"/>
            </a:pPr>
            <a:r>
              <a:rPr lang="en-US" sz="2133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Streamlit Documentation. https://docs.streamlit.io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DAHXN--L_Xw</dc:identifier>
  <dcterms:modified xsi:type="dcterms:W3CDTF">2011-08-01T06:04:30Z</dcterms:modified>
  <cp:revision>1</cp:revision>
  <dc:title>PCP_Solver_TAE2_PPT.pptx</dc:title>
</cp:coreProperties>
</file>